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8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80927" y="1090910"/>
            <a:ext cx="4781996" cy="304800"/>
          </a:xfrm>
          <a:prstGeom prst="roundRect">
            <a:avLst>
              <a:gd name="adj" fmla="val 16667"/>
            </a:avLst>
          </a:prstGeom>
          <a:solidFill>
            <a:srgbClr val="1A549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384078" y="1167110"/>
            <a:ext cx="44632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CSE 317 — DESIGN &amp; ANALYSIS OF ALGORITHMS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439815" y="1700510"/>
            <a:ext cx="6264220" cy="554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370"/>
              </a:lnSpc>
              <a:spcBef>
                <a:spcPts val="2400"/>
              </a:spcBef>
              <a:spcAft>
                <a:spcPts val="800"/>
              </a:spcAft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0/1 Knapsack Problem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602487" y="2356991"/>
            <a:ext cx="3938876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200"/>
              </a:spcAft>
              <a:buNone/>
            </a:pPr>
            <a:r>
              <a:rPr lang="en-US" sz="16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Empirical Comparison of Six Algorithms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62484" y="3001417"/>
            <a:ext cx="7019032" cy="619423"/>
          </a:xfrm>
          <a:prstGeom prst="roundRect">
            <a:avLst>
              <a:gd name="adj" fmla="val 12302"/>
            </a:avLst>
          </a:prstGeom>
          <a:solidFill>
            <a:srgbClr val="2E40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406720" y="3179118"/>
            <a:ext cx="6330559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80"/>
              </a:lnSpc>
              <a:buNone/>
            </a:pPr>
            <a:r>
              <a:rPr lang="en-US" sz="1300" b="1" dirty="0">
                <a:solidFill>
                  <a:srgbClr val="F4F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Anas Tabba</a:t>
            </a:r>
            <a:pPr algn="ctr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F4F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</a:t>
            </a:r>
            <a:pPr algn="ctr" indent="0" marL="0">
              <a:lnSpc>
                <a:spcPts val="2080"/>
              </a:lnSpc>
              <a:buNone/>
            </a:pPr>
            <a:r>
              <a:rPr lang="en-US" sz="1300" b="1" dirty="0">
                <a:solidFill>
                  <a:srgbClr val="F4F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Abdullah Khan Sherwani</a:t>
            </a:r>
            <a:pPr algn="ctr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F4F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</a:t>
            </a:r>
            <a:pPr algn="ctr" indent="0" marL="0">
              <a:lnSpc>
                <a:spcPts val="2080"/>
              </a:lnSpc>
              <a:buNone/>
            </a:pPr>
            <a:r>
              <a:rPr lang="en-US" sz="1300" b="1" dirty="0">
                <a:solidFill>
                  <a:srgbClr val="F4F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Zuhair Merchant</a:t>
            </a:r>
            <a:pPr algn="ctr" indent="0" marL="0">
              <a:lnSpc>
                <a:spcPts val="2080"/>
              </a:lnSpc>
              <a:buNone/>
            </a:pPr>
            <a:r>
              <a:rPr lang="en-US" sz="1300" dirty="0">
                <a:solidFill>
                  <a:srgbClr val="F4F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</a:t>
            </a:r>
            <a:pPr algn="ctr" indent="0" marL="0">
              <a:lnSpc>
                <a:spcPts val="2080"/>
              </a:lnSpc>
              <a:buNone/>
            </a:pPr>
            <a:r>
              <a:rPr lang="en-US" sz="1300" b="1" dirty="0">
                <a:solidFill>
                  <a:srgbClr val="F4F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Raahin Raajiudin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45688" y="3900190"/>
            <a:ext cx="185262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200"/>
              </a:spcBef>
              <a:buNone/>
            </a:pPr>
            <a:r>
              <a:rPr lang="en-US" sz="11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2026  ·  Group Project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1A549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380851"/>
            <a:ext cx="839419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930027"/>
            <a:ext cx="8229600" cy="13887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95300" y="930027"/>
            <a:ext cx="0" cy="1388715"/>
          </a:xfrm>
          <a:prstGeom prst="line">
            <a:avLst/>
          </a:prstGeom>
          <a:noFill/>
          <a:ln w="76200">
            <a:solidFill>
              <a:srgbClr val="1A54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7301" y="1158478"/>
            <a:ext cx="7798510" cy="277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Given:</a:t>
            </a:r>
            <a:pPr algn="l" indent="0" marL="0">
              <a:lnSpc>
                <a:spcPts val="19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 items, each with value v</a:t>
            </a:r>
            <a:pPr algn="l" indent="0" marL="0">
              <a:lnSpc>
                <a:spcPts val="19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weight w</a:t>
            </a:r>
            <a:pPr algn="l" indent="0" marL="0">
              <a:lnSpc>
                <a:spcPts val="19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and a knapsack of capacity W.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87301" y="1486495"/>
            <a:ext cx="7798510" cy="247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Find:</a:t>
            </a:r>
            <a:pPr algn="l" indent="0" marL="0">
              <a:lnSpc>
                <a:spcPts val="195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subset S ⊆ {1, ..., n} that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87301" y="1784747"/>
            <a:ext cx="7798510" cy="305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400" dirty="0">
                <a:solidFill>
                  <a:srgbClr val="1A5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maximises  Σ vi · xi  subject to  Σ wi · xi ≤ W,  xi ∈ {0, 1}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2521893"/>
            <a:ext cx="8229600" cy="893862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lnSpc>
                <a:spcPts val="2015"/>
              </a:lnSpc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0/1</a:t>
            </a:r>
            <a:pPr algn="l" indent="0" marL="0">
              <a:lnSpc>
                <a:spcPts val="2015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means each item is either taken whole or skipped — no fractions.</a:t>
            </a:r>
            <a:endParaRPr lang="en-US" sz="1300" dirty="0"/>
          </a:p>
          <a:p>
            <a:pPr algn="l" marL="127000" indent="-127000">
              <a:lnSpc>
                <a:spcPts val="2015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NP-hard, but admits a </a:t>
            </a:r>
            <a:pPr algn="l" indent="0" marL="0">
              <a:lnSpc>
                <a:spcPts val="2015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pseudo-polynomial</a:t>
            </a:r>
            <a:pPr algn="l" indent="0" marL="0">
              <a:lnSpc>
                <a:spcPts val="2015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O(nW) DP because W is bounded.</a:t>
            </a:r>
            <a:endParaRPr lang="en-US" sz="1300" dirty="0"/>
          </a:p>
          <a:p>
            <a:pPr algn="l" marL="127000" indent="-127000">
              <a:lnSpc>
                <a:spcPts val="2015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has been studied since 1957 (Dantzig); still actively used today.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0" y="4848225"/>
            <a:ext cx="9144000" cy="295275"/>
          </a:xfrm>
          <a:prstGeom prst="rect">
            <a:avLst/>
          </a:prstGeom>
          <a:solidFill>
            <a:srgbClr val="1A549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57200" y="4924425"/>
            <a:ext cx="22529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0/1 Knapsack — Empirical Comparison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369052" y="4924425"/>
            <a:ext cx="32410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1A549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330101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 — Real-World Use Cases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733276"/>
            <a:ext cx="854964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2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abstract problem shows up in logistics, finance, computing, and security.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81000" y="1057126"/>
            <a:ext cx="2892326" cy="92645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8575" dist="13470" dir="27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04813" y="1057126"/>
            <a:ext cx="0" cy="926455"/>
          </a:xfrm>
          <a:prstGeom prst="line">
            <a:avLst/>
          </a:prstGeom>
          <a:noFill/>
          <a:ln w="47625">
            <a:solidFill>
              <a:srgbClr val="1A54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1025" y="1158627"/>
            <a:ext cx="25906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5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Cargo &amp; Container Loading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81025" y="1368177"/>
            <a:ext cx="2590699" cy="51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packages for a truck or aircraft when capacity is fixed and each item has a profit and weight.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374827" y="1057126"/>
            <a:ext cx="2892326" cy="92645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8575" dist="13470" dir="27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3398639" y="1057126"/>
            <a:ext cx="0" cy="926455"/>
          </a:xfrm>
          <a:prstGeom prst="line">
            <a:avLst/>
          </a:prstGeom>
          <a:noFill/>
          <a:ln w="47625">
            <a:solidFill>
              <a:srgbClr val="1A54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74852" y="1158627"/>
            <a:ext cx="25906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5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Budgeting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574852" y="1368177"/>
            <a:ext cx="2590699" cy="51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investment projects under a fixed budget where each project has an expected return.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81000" y="2085082"/>
            <a:ext cx="2892326" cy="92645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8575" dist="13470" dir="27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404813" y="2085082"/>
            <a:ext cx="0" cy="926455"/>
          </a:xfrm>
          <a:prstGeom prst="line">
            <a:avLst/>
          </a:prstGeom>
          <a:noFill/>
          <a:ln w="47625">
            <a:solidFill>
              <a:srgbClr val="1A549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1025" y="2186583"/>
            <a:ext cx="25906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5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Resource Allocation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81025" y="2396133"/>
            <a:ext cx="2590699" cy="51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 jobs on a server with limited memory or CPU to maximise throughput or revenue.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374827" y="2085082"/>
            <a:ext cx="2892326" cy="92645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8575" dist="13470" dir="27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3398639" y="2085082"/>
            <a:ext cx="0" cy="926455"/>
          </a:xfrm>
          <a:prstGeom prst="line">
            <a:avLst/>
          </a:prstGeom>
          <a:noFill/>
          <a:ln w="47625">
            <a:solidFill>
              <a:srgbClr val="1A549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574852" y="2186583"/>
            <a:ext cx="25906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5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Cutting Stock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574852" y="2396133"/>
            <a:ext cx="2590699" cy="342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cut patterns from raw material to maximise yield within available stock.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81000" y="3113038"/>
            <a:ext cx="2892326" cy="75515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8575" dist="13470" dir="27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404813" y="3113038"/>
            <a:ext cx="0" cy="755154"/>
          </a:xfrm>
          <a:prstGeom prst="line">
            <a:avLst/>
          </a:prstGeom>
          <a:noFill/>
          <a:ln w="47625">
            <a:solidFill>
              <a:srgbClr val="1A549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1025" y="3214539"/>
            <a:ext cx="25906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5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81025" y="3424089"/>
            <a:ext cx="2590699" cy="342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Merkle–Hellman knapsack cryptosystem encodes messages as 0/1 selections.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374827" y="3113038"/>
            <a:ext cx="2892326" cy="75515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8575" dist="13470" dir="27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3398639" y="3113038"/>
            <a:ext cx="0" cy="755154"/>
          </a:xfrm>
          <a:prstGeom prst="line">
            <a:avLst/>
          </a:prstGeom>
          <a:noFill/>
          <a:ln w="47625">
            <a:solidFill>
              <a:srgbClr val="1A549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74852" y="3214539"/>
            <a:ext cx="25906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5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AI &amp; Inventory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574852" y="3424089"/>
            <a:ext cx="2590699" cy="342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Limited-slot inventory or loadout selection — classic 0/1 with weight = slot cost.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0" y="4848225"/>
            <a:ext cx="9144000" cy="295275"/>
          </a:xfrm>
          <a:prstGeom prst="rect">
            <a:avLst/>
          </a:prstGeom>
          <a:solidFill>
            <a:srgbClr val="1A549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57200" y="4924425"/>
            <a:ext cx="22529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0/1 Knapsack — Empirical Comparison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369052" y="4924425"/>
            <a:ext cx="32410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1A549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380851"/>
            <a:ext cx="839419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These 6 Algorithms?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930027"/>
            <a:ext cx="4013150" cy="2598539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3470" dir="27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57200" y="968127"/>
            <a:ext cx="4013150" cy="0"/>
          </a:xfrm>
          <a:prstGeom prst="line">
            <a:avLst/>
          </a:prstGeom>
          <a:noFill/>
          <a:ln w="76200">
            <a:solidFill>
              <a:srgbClr val="2ECC7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1101" y="1209377"/>
            <a:ext cx="357545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239B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 (4)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11101" y="1593503"/>
            <a:ext cx="3575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return the true optimum. Differ in </a:t>
            </a:r>
            <a:pPr algn="l" indent="0" marL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pPr algn="l" indent="0" marL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they search and </a:t>
            </a:r>
            <a:pPr algn="l" indent="0" marL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pPr algn="l" indent="0" marL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needed.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11101" y="2177653"/>
            <a:ext cx="3505349" cy="1097012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lnSpc>
                <a:spcPts val="186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Brute Force — recursion, no caching</a:t>
            </a:r>
            <a:endParaRPr lang="en-US" sz="1200" dirty="0"/>
          </a:p>
          <a:p>
            <a:pPr algn="l" marL="114300" indent="-114300">
              <a:lnSpc>
                <a:spcPts val="186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Memoization — top-down DP, cached</a:t>
            </a:r>
            <a:endParaRPr lang="en-US" sz="1200" dirty="0"/>
          </a:p>
          <a:p>
            <a:pPr algn="l" marL="114300" indent="-114300">
              <a:lnSpc>
                <a:spcPts val="186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Tabulation — bottom-up DP, recoverable items</a:t>
            </a:r>
            <a:endParaRPr lang="en-US" sz="1200" dirty="0"/>
          </a:p>
          <a:p>
            <a:pPr algn="l" marL="114300" indent="-114300">
              <a:lnSpc>
                <a:spcPts val="186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Space-Optimised DP — O(W) memory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73501" y="930027"/>
            <a:ext cx="4013299" cy="2598539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3470" dir="27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673501" y="968127"/>
            <a:ext cx="4013299" cy="0"/>
          </a:xfrm>
          <a:prstGeom prst="line">
            <a:avLst/>
          </a:prstGeom>
          <a:noFill/>
          <a:ln w="76200">
            <a:solidFill>
              <a:srgbClr val="9B59B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27402" y="1209377"/>
            <a:ext cx="3575608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6C34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Approximation (2)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927402" y="1593503"/>
            <a:ext cx="3575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 a bounded amount of accuracy for huge speed/memory savings.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27402" y="2177653"/>
            <a:ext cx="3505498" cy="523131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lnSpc>
                <a:spcPts val="186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 — value/weight ratio, ≥ OPT/2</a:t>
            </a:r>
            <a:endParaRPr lang="en-US" sz="1200" dirty="0"/>
          </a:p>
          <a:p>
            <a:pPr algn="l" marL="114300" indent="-114300">
              <a:lnSpc>
                <a:spcPts val="186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FPTAS — scaled DP, ≥ (1−ε)·OPT, tunable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3706267"/>
            <a:ext cx="8229600" cy="680442"/>
          </a:xfrm>
          <a:prstGeom prst="rect">
            <a:avLst/>
          </a:prstGeom>
          <a:solidFill>
            <a:srgbClr val="2E40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82117" y="3833217"/>
            <a:ext cx="7979765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4F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axes to trade off: </a:t>
            </a:r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</a:t>
            </a:r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4F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↔ </a:t>
            </a:r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4F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↔ </a:t>
            </a:r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</a:t>
            </a:r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4F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Picking the right algorithm depends on which axis is the binding constraint for your input.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0" y="4848225"/>
            <a:ext cx="9144000" cy="295275"/>
          </a:xfrm>
          <a:prstGeom prst="rect">
            <a:avLst/>
          </a:prstGeom>
          <a:solidFill>
            <a:srgbClr val="1A549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57200" y="4924425"/>
            <a:ext cx="22529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0/1 Knapsack — Empirical Comparison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369052" y="4924425"/>
            <a:ext cx="32410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E74C3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82501" y="307777"/>
            <a:ext cx="121155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NAIVE APPROACH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81000" y="542627"/>
            <a:ext cx="85496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Brute Force (Pure Recursion)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81000" y="993428"/>
            <a:ext cx="438093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B0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81000" y="1304479"/>
            <a:ext cx="4380931" cy="586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each item: </a:t>
            </a:r>
            <a:pPr algn="l" indent="0" marL="0">
              <a:lnSpc>
                <a:spcPts val="1540"/>
              </a:lnSpc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it</a:t>
            </a:r>
            <a:pPr algn="l" indent="0" marL="0">
              <a:lnSpc>
                <a:spcPts val="1540"/>
              </a:lnSpc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 </a:t>
            </a:r>
            <a:pPr algn="l" indent="0" marL="0">
              <a:lnSpc>
                <a:spcPts val="1540"/>
              </a:lnSpc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 it</a:t>
            </a:r>
            <a:pPr algn="l" indent="0" marL="0">
              <a:lnSpc>
                <a:spcPts val="1540"/>
              </a:lnSpc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Recurse on the remaining n−1 items, return the max of the two branches. No caching — every subproblem is re-solved from scratch.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81000" y="2030760"/>
            <a:ext cx="4295031" cy="347960"/>
          </a:xfrm>
          <a:prstGeom prst="rect">
            <a:avLst/>
          </a:prstGeom>
          <a:solidFill>
            <a:srgbClr val="FDED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07950" y="2106960"/>
            <a:ext cx="4121953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B03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Time: O(2ⁿ)   |   Space: O(n) recursion stack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81000" y="2454920"/>
            <a:ext cx="438093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B0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81000" y="2664470"/>
            <a:ext cx="4295031" cy="58668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54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Trivial correctness; useful as a reference for testing other algorithms.</a:t>
            </a:r>
            <a:endParaRPr lang="en-US" sz="1100" dirty="0"/>
          </a:p>
          <a:p>
            <a:pPr algn="l" marL="101600" indent="-101600">
              <a:lnSpc>
                <a:spcPts val="154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data structures, no memory pressure.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1000" y="3327350"/>
            <a:ext cx="438093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B0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81000" y="3536900"/>
            <a:ext cx="4295031" cy="39112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54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Explodes after n ≈ 25 (2²⁵ ≈ 33 million calls).</a:t>
            </a:r>
            <a:endParaRPr lang="en-US" sz="1100" dirty="0"/>
          </a:p>
          <a:p>
            <a:pPr algn="l" marL="101600" indent="-101600">
              <a:lnSpc>
                <a:spcPts val="154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subproblem solved many times.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28431" y="993428"/>
            <a:ext cx="3934569" cy="3010793"/>
          </a:xfrm>
          <a:prstGeom prst="rect">
            <a:avLst/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006132" y="1120378"/>
            <a:ext cx="365075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on baseline (n=4, W=50)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06132" y="1336179"/>
            <a:ext cx="3650751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  = [60, 100, 120, 80]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06132" y="1570881"/>
            <a:ext cx="3650751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weights = [10,  20,  30, 25]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06132" y="1805583"/>
            <a:ext cx="3650751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ECC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= 220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006132" y="2040285"/>
            <a:ext cx="3650751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ECC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items = [1, 2]   ← items 100+120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06132" y="2274987"/>
            <a:ext cx="3650751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ECC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weight= 50   (exact fit)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0" y="4848225"/>
            <a:ext cx="9144000" cy="295275"/>
          </a:xfrm>
          <a:prstGeom prst="rect">
            <a:avLst/>
          </a:prstGeom>
          <a:solidFill>
            <a:srgbClr val="E74C3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57200" y="4924425"/>
            <a:ext cx="22529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0/1 Knapsack — Empirical Comparison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369052" y="4924425"/>
            <a:ext cx="32410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3498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82501" y="307777"/>
            <a:ext cx="165193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 — TOP-DOWN DP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81000" y="542627"/>
            <a:ext cx="85496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Memoization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81000" y="993428"/>
            <a:ext cx="438093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F6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81000" y="1304479"/>
            <a:ext cx="4380931" cy="586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recursion as brute force, plus a </a:t>
            </a:r>
            <a:pPr algn="l" indent="0" marL="0">
              <a:lnSpc>
                <a:spcPts val="1540"/>
              </a:lnSpc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memo[n+1][W+1]</a:t>
            </a:r>
            <a:pPr algn="l" indent="0" marL="0">
              <a:lnSpc>
                <a:spcPts val="1540"/>
              </a:lnSpc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table that caches each (i, w) subproblem. Each state is solved once → total work proportional to table size.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81000" y="2030760"/>
            <a:ext cx="4295031" cy="347960"/>
          </a:xfrm>
          <a:prstGeom prst="rect">
            <a:avLst/>
          </a:prstGeom>
          <a:solidFill>
            <a:srgbClr val="EBF5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07950" y="2106960"/>
            <a:ext cx="4121953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F61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Time: O(n · W)   |   Space: O(n · W)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81000" y="2454920"/>
            <a:ext cx="438093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F6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81000" y="2664470"/>
            <a:ext cx="4295031" cy="58668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54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Reuses brute-force logic — easy to write once you have the recursion.</a:t>
            </a:r>
            <a:endParaRPr lang="en-US" sz="1100" dirty="0"/>
          </a:p>
          <a:p>
            <a:pPr algn="l" marL="101600" indent="-101600">
              <a:lnSpc>
                <a:spcPts val="154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Massive speed-up: from O(2ⁿ) to O(nW).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1000" y="3327350"/>
            <a:ext cx="438093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F61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81000" y="3536900"/>
            <a:ext cx="4295031" cy="791766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54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Pseudo-polynomial — runtime depends on the </a:t>
            </a:r>
            <a:pPr algn="l" indent="0" marL="0">
              <a:lnSpc>
                <a:spcPts val="1540"/>
              </a:lnSpc>
              <a:buNone/>
            </a:pPr>
            <a:r>
              <a:rPr lang="en-US" sz="11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W, not its bit-length.</a:t>
            </a:r>
            <a:endParaRPr lang="en-US" sz="1100" dirty="0"/>
          </a:p>
          <a:p>
            <a:pPr algn="l" marL="101600" indent="-101600">
              <a:lnSpc>
                <a:spcPts val="154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Recursion depth grows with n (Python: needs 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28431" y="993428"/>
            <a:ext cx="3934569" cy="3411438"/>
          </a:xfrm>
          <a:prstGeom prst="rect">
            <a:avLst/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006132" y="1120378"/>
            <a:ext cx="365075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06132" y="1336179"/>
            <a:ext cx="3650751" cy="342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 when the recursive decomposition is the most natural way to express the problem.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06132" y="1742182"/>
            <a:ext cx="365075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on baseline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06132" y="1957983"/>
            <a:ext cx="3650751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ECC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= 220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006132" y="2192685"/>
            <a:ext cx="3650751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ECC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items = [1, 2]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06132" y="2427387"/>
            <a:ext cx="3650751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(matches brute force exactly)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0" y="4848225"/>
            <a:ext cx="9144000" cy="295275"/>
          </a:xfrm>
          <a:prstGeom prst="rect">
            <a:avLst/>
          </a:prstGeom>
          <a:solidFill>
            <a:srgbClr val="3498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57200" y="4924425"/>
            <a:ext cx="22529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0/1 Knapsack — Empirical Comparison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369052" y="4924425"/>
            <a:ext cx="32410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82501" y="307777"/>
            <a:ext cx="171675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 — BOTTOM-UP DP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81000" y="542627"/>
            <a:ext cx="85496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Tabulation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81000" y="993428"/>
            <a:ext cx="438093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39B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81000" y="1304479"/>
            <a:ext cx="4380931" cy="586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2-D table tab[i][w] iteratively from i = 0…n and w = 0…W. Each cell is the optimum using the first i items with capacity w. No recursion, no stack overhead.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81000" y="2030760"/>
            <a:ext cx="4295031" cy="347960"/>
          </a:xfrm>
          <a:prstGeom prst="rect">
            <a:avLst/>
          </a:prstGeom>
          <a:solidFill>
            <a:srgbClr val="E8F8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07950" y="2106960"/>
            <a:ext cx="4121953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239B5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Time: O(n · W)   |   Space: O(n · W)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81000" y="2454920"/>
            <a:ext cx="438093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39B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81000" y="2664470"/>
            <a:ext cx="4295031" cy="782241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54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Iterative — fastest in practice among the exact DPs (no call overhead).</a:t>
            </a:r>
            <a:endParaRPr lang="en-US" sz="1100" dirty="0"/>
          </a:p>
          <a:p>
            <a:pPr algn="l" marL="101600" indent="-101600">
              <a:lnSpc>
                <a:spcPts val="154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table lets us </a:t>
            </a:r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backtrack and reconstruct the chosen items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1000" y="3522911"/>
            <a:ext cx="438093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39B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81000" y="3732461"/>
            <a:ext cx="4295031" cy="58668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54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O(nW) memory as memoization.</a:t>
            </a:r>
            <a:endParaRPr lang="en-US" sz="1100" dirty="0"/>
          </a:p>
          <a:p>
            <a:pPr algn="l" marL="101600" indent="-101600">
              <a:lnSpc>
                <a:spcPts val="154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Computes every cell, even ones the recursion would have skipped.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28431" y="993428"/>
            <a:ext cx="3934569" cy="3401913"/>
          </a:xfrm>
          <a:prstGeom prst="rect">
            <a:avLst/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006132" y="1120378"/>
            <a:ext cx="365075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 Recovery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06132" y="1336179"/>
            <a:ext cx="3650751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Walk from tab[n][W] downward: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06132" y="1570881"/>
            <a:ext cx="3650751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tab[i][w] != tab[i-1][w]: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06132" y="1805583"/>
            <a:ext cx="3650751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 i was taken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006132" y="2040285"/>
            <a:ext cx="3650751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-= weights[i-1]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06132" y="2274987"/>
            <a:ext cx="3650751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ECC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= 220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006132" y="2509689"/>
            <a:ext cx="3650751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ECC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items = [1, 2]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0" y="4848225"/>
            <a:ext cx="9144000" cy="295275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57200" y="4924425"/>
            <a:ext cx="22529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0/1 Knapsack — Empirical Comparison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369052" y="4924425"/>
            <a:ext cx="32410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F39C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82501" y="307777"/>
            <a:ext cx="216594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 — SPACE-OPTIMISED DP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81000" y="542627"/>
            <a:ext cx="85496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Space-Optimised DP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81000" y="993428"/>
            <a:ext cx="438093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B977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81000" y="1304479"/>
            <a:ext cx="4380931" cy="586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Tabulation only ever reads row i−1 to compute row i, so we keep </a:t>
            </a:r>
            <a:pPr algn="l" indent="0" marL="0">
              <a:lnSpc>
                <a:spcPts val="1540"/>
              </a:lnSpc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one 1-D array dp[w]</a:t>
            </a:r>
            <a:pPr algn="l" indent="0" marL="0">
              <a:lnSpc>
                <a:spcPts val="1540"/>
              </a:lnSpc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Iterate w from W down to weights[i] so we don't overwrite values still needed.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81000" y="2030760"/>
            <a:ext cx="4295031" cy="347960"/>
          </a:xfrm>
          <a:prstGeom prst="rect">
            <a:avLst/>
          </a:prstGeom>
          <a:solidFill>
            <a:srgbClr val="FEF5E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07950" y="2106960"/>
            <a:ext cx="4121953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B9770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Time: O(n · W)   |   Space: O(W)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81000" y="2454920"/>
            <a:ext cx="438093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B977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81000" y="2664470"/>
            <a:ext cx="4295031" cy="39112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54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speed as tabulation but huge memory win — only one row.</a:t>
            </a:r>
            <a:endParaRPr lang="en-US" sz="1100" dirty="0"/>
          </a:p>
          <a:p>
            <a:pPr algn="l" marL="101600" indent="-101600">
              <a:lnSpc>
                <a:spcPts val="154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choice when W is large but per-instance memory matters.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1000" y="3131790"/>
            <a:ext cx="438093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B977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81000" y="3341340"/>
            <a:ext cx="4295031" cy="58668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540"/>
              </a:lnSpc>
              <a:buSzPct val="100000"/>
              <a:buChar char="•"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recover the item set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from a single row — that information is lost.</a:t>
            </a:r>
            <a:endParaRPr lang="en-US" sz="1100" dirty="0"/>
          </a:p>
          <a:p>
            <a:pPr algn="l" marL="101600" indent="-101600">
              <a:lnSpc>
                <a:spcPts val="154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pseudo-polynomial in W.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28431" y="993428"/>
            <a:ext cx="3934569" cy="3010793"/>
          </a:xfrm>
          <a:prstGeom prst="rect">
            <a:avLst/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006132" y="1120378"/>
            <a:ext cx="365075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"value only"?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06132" y="1336179"/>
            <a:ext cx="3650751" cy="342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1-D rolling array discards the history needed to reconstruct which items were chosen.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06132" y="1742182"/>
            <a:ext cx="3650751" cy="342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 recover items you'd need a parent table — defeating the space win.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06132" y="2148185"/>
            <a:ext cx="3650751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ECC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= 220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006132" y="2382887"/>
            <a:ext cx="3650751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F39C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items = (not recoverable)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0" y="4848225"/>
            <a:ext cx="9144000" cy="295275"/>
          </a:xfrm>
          <a:prstGeom prst="rect">
            <a:avLst/>
          </a:prstGeom>
          <a:solidFill>
            <a:srgbClr val="F39C1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57200" y="4924425"/>
            <a:ext cx="22529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0/1 Knapsack — Empirical Comparison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369052" y="4924425"/>
            <a:ext cx="32410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9B59B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82501" y="307777"/>
            <a:ext cx="113155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APPROXIMATION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81000" y="542627"/>
            <a:ext cx="85496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Greedy Approximation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81000" y="993428"/>
            <a:ext cx="438093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6C34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81000" y="1304479"/>
            <a:ext cx="4380931" cy="596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 items by </a:t>
            </a:r>
            <a:pPr algn="l" indent="0" marL="0">
              <a:lnSpc>
                <a:spcPts val="1540"/>
              </a:lnSpc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value/weight ratio</a:t>
            </a:r>
            <a:pPr algn="l" indent="0" marL="0">
              <a:lnSpc>
                <a:spcPts val="1540"/>
              </a:lnSpc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descending. Pack greedily until the next one doesn't fit. To guarantee ≥ OPT/2, return </a:t>
            </a:r>
            <a:pPr algn="l" indent="0" marL="0">
              <a:lnSpc>
                <a:spcPts val="1540"/>
              </a:lnSpc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81000" y="2040285"/>
            <a:ext cx="4295031" cy="543520"/>
          </a:xfrm>
          <a:prstGeom prst="rect">
            <a:avLst/>
          </a:prstGeom>
          <a:solidFill>
            <a:srgbClr val="F4EC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07950" y="2116485"/>
            <a:ext cx="4121953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6C348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Time: O(n log n)   |   Space: O(n)   |   Guarantee: ≥ OPT / 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81000" y="2660005"/>
            <a:ext cx="438093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6C34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81000" y="2869555"/>
            <a:ext cx="4295031" cy="39112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54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Lightning fast — no DP table at all; </a:t>
            </a:r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of W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00" dirty="0"/>
          </a:p>
          <a:p>
            <a:pPr algn="l" marL="101600" indent="-101600">
              <a:lnSpc>
                <a:spcPts val="154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Trivial to implement; uses only sorting.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1000" y="3336875"/>
            <a:ext cx="438093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6C34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81000" y="3546425"/>
            <a:ext cx="4295031" cy="58668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54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a 50% guarantee in the worst case.</a:t>
            </a:r>
            <a:endParaRPr lang="en-US" sz="1100" dirty="0"/>
          </a:p>
          <a:p>
            <a:pPr algn="l" marL="101600" indent="-101600">
              <a:lnSpc>
                <a:spcPts val="154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Performs poorly on strongly-correlated instances (all ratios similar).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28431" y="993428"/>
            <a:ext cx="3934569" cy="3215878"/>
          </a:xfrm>
          <a:prstGeom prst="rect">
            <a:avLst/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006132" y="1120378"/>
            <a:ext cx="365075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on baseline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06132" y="1336179"/>
            <a:ext cx="3650751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ratios sorted: 6.0, 5.0, 4.0, 3.2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06132" y="1570881"/>
            <a:ext cx="3650751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F39C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= 160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06132" y="1805583"/>
            <a:ext cx="3650751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F39C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items = [0, 1]   ← 60+100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006132" y="2040285"/>
            <a:ext cx="3650751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ECC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guarantee floor = 110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06132" y="2274987"/>
            <a:ext cx="3650751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 = 220 → got 73%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006132" y="2509689"/>
            <a:ext cx="3650751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(above the 50% floor, below optimal)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0" y="4848225"/>
            <a:ext cx="9144000" cy="295275"/>
          </a:xfrm>
          <a:prstGeom prst="rect">
            <a:avLst/>
          </a:prstGeom>
          <a:solidFill>
            <a:srgbClr val="9B59B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57200" y="4924425"/>
            <a:ext cx="22529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0/1 Knapsack — Empirical Comparison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369052" y="4924425"/>
            <a:ext cx="32410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1ABC9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82501" y="307777"/>
            <a:ext cx="113155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APPROXIMATION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81000" y="542627"/>
            <a:ext cx="854964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FPTAS — Fully Polynomial-Time Approximation Scheme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81000" y="974378"/>
            <a:ext cx="438093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17A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81000" y="1285429"/>
            <a:ext cx="4380931" cy="586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ε ∈ (0, 1). Scale all values by K = εP/n where P = max value. Round to integers, then run a </a:t>
            </a:r>
            <a:pPr algn="l" indent="0" marL="0">
              <a:lnSpc>
                <a:spcPts val="1540"/>
              </a:lnSpc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profit-indexed</a:t>
            </a:r>
            <a:pPr algn="l" indent="0" marL="0">
              <a:lnSpc>
                <a:spcPts val="1540"/>
              </a:lnSpc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DP: dp[p] = min weight to achieve scaled profit p. Largest feasible p gives the answer.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81000" y="2011710"/>
            <a:ext cx="4295031" cy="543520"/>
          </a:xfrm>
          <a:prstGeom prst="rect">
            <a:avLst/>
          </a:prstGeom>
          <a:solidFill>
            <a:srgbClr val="E8F8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07950" y="2087910"/>
            <a:ext cx="4121953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17A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Time: O(n³ / ε)   |   Space: O(n² / ε)   |   Guarantee: ≥ (1−ε) · OPT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81000" y="2631430"/>
            <a:ext cx="438093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17A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81000" y="2840980"/>
            <a:ext cx="4295031" cy="58668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540"/>
              </a:lnSpc>
              <a:buSzPct val="100000"/>
              <a:buChar char="•"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Tunable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pick any ε, get a guarantee proportional to it.</a:t>
            </a:r>
            <a:endParaRPr lang="en-US" sz="1100" dirty="0"/>
          </a:p>
          <a:p>
            <a:pPr algn="l" marL="101600" indent="-101600">
              <a:lnSpc>
                <a:spcPts val="154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Polynomial in n and 1/ε — beats DP when W is huge but values are small.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1000" y="3503861"/>
            <a:ext cx="438093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17A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81000" y="3713411"/>
            <a:ext cx="4295031" cy="39112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54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Slower than greedy; harder to implement than DP.</a:t>
            </a:r>
            <a:endParaRPr lang="en-US" sz="1100" dirty="0"/>
          </a:p>
          <a:p>
            <a:pPr algn="l" marL="101600" indent="-101600">
              <a:lnSpc>
                <a:spcPts val="1540"/>
              </a:lnSpc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SpaceOpt, item set hard to recover from a 1-D profit array.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28431" y="974378"/>
            <a:ext cx="3934569" cy="3206353"/>
          </a:xfrm>
          <a:prstGeom prst="rect">
            <a:avLst/>
          </a:prstGeom>
          <a:solidFill>
            <a:srgbClr val="1C28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006132" y="1101328"/>
            <a:ext cx="365075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on baseline (ε = 0.25)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06132" y="1317129"/>
            <a:ext cx="3650751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2ECC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= 220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06132" y="1551831"/>
            <a:ext cx="3650751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guarantee = 75% × OPT = 165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06132" y="1786533"/>
            <a:ext cx="3650751" cy="171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 = 100% (exact!)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006132" y="2021235"/>
            <a:ext cx="3650751" cy="342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ECF0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ε=0.25, in practice we typically see 95%+ of OPT.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0" y="4848225"/>
            <a:ext cx="9144000" cy="295275"/>
          </a:xfrm>
          <a:prstGeom prst="rect">
            <a:avLst/>
          </a:prstGeom>
          <a:solidFill>
            <a:srgbClr val="1ABC9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57200" y="4924425"/>
            <a:ext cx="22529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0/1 Knapsack — Empirical Comparison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298507" y="4924425"/>
            <a:ext cx="3960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1A549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380851"/>
            <a:ext cx="839419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Theoretical Complexity — Side-by-Side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828526"/>
            <a:ext cx="839419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300" dirty="0">
                <a:solidFill>
                  <a:srgbClr val="5665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and space bounds with the guarantee each algorithm offers.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4037112"/>
            <a:ext cx="8229600" cy="619720"/>
          </a:xfrm>
          <a:prstGeom prst="rect">
            <a:avLst/>
          </a:prstGeom>
          <a:solidFill>
            <a:srgbClr val="2E40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60350" y="4151412"/>
            <a:ext cx="7979765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F4F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insight: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F4F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O(n·W) is </a:t>
            </a:r>
            <a:pPr algn="l" indent="0" marL="0">
              <a:lnSpc>
                <a:spcPts val="1540"/>
              </a:lnSpc>
              <a:buNone/>
            </a:pPr>
            <a:r>
              <a:rPr lang="en-US" sz="1100" i="1" dirty="0">
                <a:solidFill>
                  <a:srgbClr val="F4F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pseudo-polynomial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F4F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Doubling W doubles the work even though the input only grew by 1 bit. That's why DP is slow when values/weights are large.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0" y="4848225"/>
            <a:ext cx="9144000" cy="295275"/>
          </a:xfrm>
          <a:prstGeom prst="rect">
            <a:avLst/>
          </a:prstGeom>
          <a:solidFill>
            <a:srgbClr val="1A549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4924425"/>
            <a:ext cx="22529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0/1 Knapsack — Empirical Comparison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307884" y="4924425"/>
            <a:ext cx="38649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1A549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79202"/>
            <a:ext cx="85496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 Methodology &amp; Test Cases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81000" y="704552"/>
            <a:ext cx="4114800" cy="1135559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8575" dist="13470" dir="27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33400" y="806053"/>
            <a:ext cx="3886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5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33400" y="1015603"/>
            <a:ext cx="3810000" cy="646807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54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3, standard library only</a:t>
            </a:r>
            <a:endParaRPr lang="en-US" sz="1100" dirty="0"/>
          </a:p>
          <a:p>
            <a:pPr algn="l" marL="101600" indent="-101600">
              <a:lnSpc>
                <a:spcPts val="154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machine,</a:t>
            </a:r>
            <a:endParaRPr lang="en-US" sz="1100" dirty="0"/>
          </a:p>
          <a:p>
            <a:pPr algn="l" marL="101600" indent="-101600">
              <a:lnSpc>
                <a:spcPts val="154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of multiple instances per (n, ratio) cell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81000" y="1928961"/>
            <a:ext cx="4114800" cy="134689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8575" dist="13470" dir="27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33400" y="2030462"/>
            <a:ext cx="3886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5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Suite — Pisinger kplib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33400" y="2240012"/>
            <a:ext cx="3810000" cy="858143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54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instance categories (correlation structures)</a:t>
            </a:r>
            <a:endParaRPr lang="en-US" sz="1100" dirty="0"/>
          </a:p>
          <a:p>
            <a:pPr algn="l" marL="101600" indent="-101600">
              <a:lnSpc>
                <a:spcPts val="154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∈ {5, 10, 25, 50, 100, 200, 500, …}</a:t>
            </a:r>
            <a:endParaRPr lang="en-US" sz="1100" dirty="0"/>
          </a:p>
          <a:p>
            <a:pPr algn="l" marL="101600" indent="-101600">
              <a:lnSpc>
                <a:spcPts val="154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value ranges: </a:t>
            </a:r>
            <a:pPr algn="l" indent="0" marL="0">
              <a:lnSpc>
                <a:spcPts val="154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R01000</a:t>
            </a:r>
            <a:pPr algn="l" indent="0" marL="0">
              <a:lnSpc>
                <a:spcPts val="154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54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R10000</a:t>
            </a:r>
            <a:endParaRPr lang="en-US" sz="1100" dirty="0"/>
          </a:p>
          <a:p>
            <a:pPr algn="l" marL="101600" indent="-101600">
              <a:lnSpc>
                <a:spcPts val="154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= sum(weights) / 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648200" y="704552"/>
            <a:ext cx="4114800" cy="134689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8575" dist="13470" dir="27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800600" y="806053"/>
            <a:ext cx="3886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5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these categories?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00600" y="1015603"/>
            <a:ext cx="3810000" cy="858143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540"/>
              </a:lnSpc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Uncorrelated</a:t>
            </a:r>
            <a:pPr algn="l" indent="0" marL="0">
              <a:lnSpc>
                <a:spcPts val="154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easiest, ratios spread out</a:t>
            </a:r>
            <a:endParaRPr lang="en-US" sz="1100" dirty="0"/>
          </a:p>
          <a:p>
            <a:pPr algn="l" marL="101600" indent="-101600">
              <a:lnSpc>
                <a:spcPts val="1540"/>
              </a:lnSpc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Strongly correlated</a:t>
            </a:r>
            <a:pPr algn="l" indent="0" marL="0">
              <a:lnSpc>
                <a:spcPts val="154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hardest, ratios all similar</a:t>
            </a:r>
            <a:endParaRPr lang="en-US" sz="1100" dirty="0"/>
          </a:p>
          <a:p>
            <a:pPr algn="l" marL="101600" indent="-101600">
              <a:lnSpc>
                <a:spcPts val="1540"/>
              </a:lnSpc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Subset Sum</a:t>
            </a:r>
            <a:pPr algn="l" indent="0" marL="0">
              <a:lnSpc>
                <a:spcPts val="154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values = weights, special case</a:t>
            </a:r>
            <a:endParaRPr lang="en-US" sz="1100" dirty="0"/>
          </a:p>
          <a:p>
            <a:pPr algn="l" marL="101600" indent="-101600">
              <a:lnSpc>
                <a:spcPts val="1540"/>
              </a:lnSpc>
              <a:spcAft>
                <a:spcPts val="200"/>
              </a:spcAft>
              <a:buSzPct val="100000"/>
              <a:buChar char="•"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Spanner / Profit Ceiling / Circle</a:t>
            </a:r>
            <a:pPr algn="l" indent="0" marL="0">
              <a:lnSpc>
                <a:spcPts val="154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pathological inputs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48200" y="2140297"/>
            <a:ext cx="4114800" cy="112603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8575" dist="13470" dir="27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800600" y="2241798"/>
            <a:ext cx="3886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5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 Thresholds (avoid OOM)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00600" y="2451348"/>
            <a:ext cx="3810000" cy="637282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54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BF skipped for n &gt; 25 (2ⁿ explodes)</a:t>
            </a:r>
            <a:endParaRPr lang="en-US" sz="1100" dirty="0"/>
          </a:p>
          <a:p>
            <a:pPr algn="l" marL="101600" indent="-101600">
              <a:lnSpc>
                <a:spcPts val="154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 variants skipped at n·W &gt; 15M–30M</a:t>
            </a:r>
            <a:endParaRPr lang="en-US" sz="1100" dirty="0"/>
          </a:p>
          <a:p>
            <a:pPr algn="l" marL="101600" indent="-101600">
              <a:lnSpc>
                <a:spcPts val="1540"/>
              </a:lnSpc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 never skipped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48200" y="3355181"/>
            <a:ext cx="4114800" cy="495002"/>
          </a:xfrm>
          <a:prstGeom prst="rect">
            <a:avLst/>
          </a:prstGeom>
          <a:solidFill>
            <a:srgbClr val="FDEDE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4676775" y="3355181"/>
            <a:ext cx="0" cy="495002"/>
          </a:xfrm>
          <a:prstGeom prst="line">
            <a:avLst/>
          </a:prstGeom>
          <a:noFill/>
          <a:ln w="57150">
            <a:solidFill>
              <a:srgbClr val="E74C3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57750" y="3431381"/>
            <a:ext cx="3827907" cy="342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Cross-check:</a:t>
            </a:r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all four exact algorithms must produce the same value on every instance — flagged automatically if they disagree.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0" y="4848225"/>
            <a:ext cx="9144000" cy="295275"/>
          </a:xfrm>
          <a:prstGeom prst="rect">
            <a:avLst/>
          </a:prstGeom>
          <a:solidFill>
            <a:srgbClr val="1A549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57200" y="4924425"/>
            <a:ext cx="22529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0/1 Knapsack — Empirical Comparison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298507" y="4924425"/>
            <a:ext cx="3960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1A549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330101"/>
            <a:ext cx="85496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Results: Runtime vs Problem Size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81000" y="755452"/>
            <a:ext cx="4834533" cy="343986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3470" dir="27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5" name="Image 0" descr="/Users/anastabba/Documents/sem6/daa/project/0-1-Knapsack-Problem/presentation/slides/fig1_runtime_vs_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51309"/>
            <a:ext cx="4682133" cy="3048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18683" y="755452"/>
            <a:ext cx="341120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A5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chart shows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18683" y="1031677"/>
            <a:ext cx="3344317" cy="1975247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595"/>
              </a:lnSpc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Brute force</a:t>
            </a:r>
            <a:pPr algn="l" indent="0" marL="0">
              <a:lnSpc>
                <a:spcPts val="1595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spikes off the chart after n = 25 — the O(2ⁿ) wall.</a:t>
            </a:r>
            <a:endParaRPr lang="en-US" sz="1100" dirty="0"/>
          </a:p>
          <a:p>
            <a:pPr algn="l" marL="101600" indent="-101600">
              <a:lnSpc>
                <a:spcPts val="1595"/>
              </a:lnSpc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Memoization, Tabulation, SpaceOpt</a:t>
            </a:r>
            <a:pPr algn="l" indent="0" marL="0">
              <a:lnSpc>
                <a:spcPts val="1595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grow linearly in n at fixed W (the three middle lines stay close).</a:t>
            </a:r>
            <a:endParaRPr lang="en-US" sz="1100" dirty="0"/>
          </a:p>
          <a:p>
            <a:pPr algn="l" marL="101600" indent="-101600">
              <a:lnSpc>
                <a:spcPts val="1595"/>
              </a:lnSpc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</a:t>
            </a:r>
            <a:pPr algn="l" indent="0" marL="0">
              <a:lnSpc>
                <a:spcPts val="1595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essentially flat — O(n log n), independent of W.</a:t>
            </a:r>
            <a:endParaRPr lang="en-US" sz="1100" dirty="0"/>
          </a:p>
          <a:p>
            <a:pPr algn="l" marL="101600" indent="-101600">
              <a:lnSpc>
                <a:spcPts val="1595"/>
              </a:lnSpc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FPTAS</a:t>
            </a:r>
            <a:pPr algn="l" indent="0" marL="0">
              <a:lnSpc>
                <a:spcPts val="1595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sits between greedy and DP — its scaled DP is small but not free.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18683" y="3108424"/>
            <a:ext cx="341120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A5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Discrepancy worth noting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18683" y="3448050"/>
            <a:ext cx="3411203" cy="607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5"/>
              </a:lnSpc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Tabulation often beats memoization in practice despite identical asymptotic cost — no recursion overhead, better cache locality.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0" y="4848225"/>
            <a:ext cx="9144000" cy="295275"/>
          </a:xfrm>
          <a:prstGeom prst="rect">
            <a:avLst/>
          </a:prstGeom>
          <a:solidFill>
            <a:srgbClr val="1A549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457200" y="4924425"/>
            <a:ext cx="22529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0/1 Knapsack — Empirical Comparison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8507" y="4924425"/>
            <a:ext cx="3960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1A549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330101"/>
            <a:ext cx="85496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Results: Approximation Quality vs Optimal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81000" y="755452"/>
            <a:ext cx="4834533" cy="343986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3470" dir="27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5" name="Image 0" descr="/Users/anastabba/Documents/sem6/daa/project/0-1-Knapsack-Problem/presentation/slides/fig4_approx_rat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51309"/>
            <a:ext cx="4682133" cy="3048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18683" y="755452"/>
            <a:ext cx="341120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A5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chart shows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18683" y="1031677"/>
            <a:ext cx="3344317" cy="1975247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lnSpc>
                <a:spcPts val="1595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box = approximation result ÷ optimal across all instances of that category.</a:t>
            </a:r>
            <a:endParaRPr lang="en-US" sz="1100" dirty="0"/>
          </a:p>
          <a:p>
            <a:pPr algn="l" marL="101600" indent="-101600">
              <a:lnSpc>
                <a:spcPts val="1595"/>
              </a:lnSpc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</a:t>
            </a:r>
            <a:pPr algn="l" indent="0" marL="0">
              <a:lnSpc>
                <a:spcPts val="1595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excellent on Uncorrelated / SubsetSum (95%+) but drops on </a:t>
            </a:r>
            <a:pPr algn="l" indent="0" marL="0">
              <a:lnSpc>
                <a:spcPts val="1595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B0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Strongly Correlated</a:t>
            </a:r>
            <a:pPr algn="l" indent="0" marL="0">
              <a:lnSpc>
                <a:spcPts val="1595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categories.</a:t>
            </a:r>
            <a:endParaRPr lang="en-US" sz="1100" dirty="0"/>
          </a:p>
          <a:p>
            <a:pPr algn="l" marL="101600" indent="-101600">
              <a:lnSpc>
                <a:spcPts val="1595"/>
              </a:lnSpc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FPTAS (ε=0.25)</a:t>
            </a:r>
            <a:pPr algn="l" indent="0" marL="0">
              <a:lnSpc>
                <a:spcPts val="1595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never violates its 75% floor; usually 95%+.</a:t>
            </a:r>
            <a:endParaRPr lang="en-US" sz="1100" dirty="0"/>
          </a:p>
          <a:p>
            <a:pPr algn="l" marL="101600" indent="-101600">
              <a:lnSpc>
                <a:spcPts val="1595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stay within their theoretical guarantees on every instance tested.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18683" y="3108424"/>
            <a:ext cx="341120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A5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correlation hurts greedy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18683" y="3448050"/>
            <a:ext cx="3411203" cy="607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5"/>
              </a:lnSpc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values track weights, every item has roughly the same v/w ratio — the greedy ordering becomes meaningless and the heuristic loses its grip.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0" y="4848225"/>
            <a:ext cx="9144000" cy="295275"/>
          </a:xfrm>
          <a:prstGeom prst="rect">
            <a:avLst/>
          </a:prstGeom>
          <a:solidFill>
            <a:srgbClr val="1A549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457200" y="4924425"/>
            <a:ext cx="22529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0/1 Knapsack — Empirical Comparison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8507" y="4924425"/>
            <a:ext cx="3960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C28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1A549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304651"/>
            <a:ext cx="85496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 — Match the Algorithm to the Constraint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81000" y="755452"/>
            <a:ext cx="2892326" cy="520303"/>
          </a:xfrm>
          <a:prstGeom prst="rect">
            <a:avLst/>
          </a:prstGeom>
          <a:solidFill>
            <a:srgbClr val="2E40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04813" y="755452"/>
            <a:ext cx="0" cy="520303"/>
          </a:xfrm>
          <a:prstGeom prst="line">
            <a:avLst/>
          </a:prstGeom>
          <a:noFill/>
          <a:ln w="47625">
            <a:solidFill>
              <a:srgbClr val="E74C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81025" y="844302"/>
            <a:ext cx="25906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Tiny n (≤ 25)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81025" y="1022003"/>
            <a:ext cx="2590699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ECF0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Brute force — sanity check / oracle.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362176" y="755452"/>
            <a:ext cx="2892326" cy="520303"/>
          </a:xfrm>
          <a:prstGeom prst="rect">
            <a:avLst/>
          </a:prstGeom>
          <a:solidFill>
            <a:srgbClr val="2E40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3385989" y="755452"/>
            <a:ext cx="0" cy="520303"/>
          </a:xfrm>
          <a:prstGeom prst="line">
            <a:avLst/>
          </a:prstGeom>
          <a:noFill/>
          <a:ln w="47625">
            <a:solidFill>
              <a:srgbClr val="2ECC7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62201" y="844302"/>
            <a:ext cx="25906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item set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562201" y="1022003"/>
            <a:ext cx="2590699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ECF0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Tabulation — fastest exact + recoverable.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1000" y="1364605"/>
            <a:ext cx="2892326" cy="520303"/>
          </a:xfrm>
          <a:prstGeom prst="rect">
            <a:avLst/>
          </a:prstGeom>
          <a:solidFill>
            <a:srgbClr val="2E40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404813" y="1364605"/>
            <a:ext cx="0" cy="520303"/>
          </a:xfrm>
          <a:prstGeom prst="line">
            <a:avLst/>
          </a:prstGeom>
          <a:noFill/>
          <a:ln w="47625">
            <a:solidFill>
              <a:srgbClr val="F39C1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1025" y="1453455"/>
            <a:ext cx="25906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Memory-bound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81025" y="1631156"/>
            <a:ext cx="2590699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ECF0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Space-Optimised — O(W) only.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62176" y="1364605"/>
            <a:ext cx="2892326" cy="520303"/>
          </a:xfrm>
          <a:prstGeom prst="rect">
            <a:avLst/>
          </a:prstGeom>
          <a:solidFill>
            <a:srgbClr val="2E40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3385989" y="1364605"/>
            <a:ext cx="0" cy="520303"/>
          </a:xfrm>
          <a:prstGeom prst="line">
            <a:avLst/>
          </a:prstGeom>
          <a:noFill/>
          <a:ln w="47625">
            <a:solidFill>
              <a:srgbClr val="9B59B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62201" y="1453455"/>
            <a:ext cx="25906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Huge W, speed critical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562201" y="1631156"/>
            <a:ext cx="2590699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ECF0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 — independent of W, ≥ OPT/2.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81000" y="1973759"/>
            <a:ext cx="2892326" cy="520303"/>
          </a:xfrm>
          <a:prstGeom prst="rect">
            <a:avLst/>
          </a:prstGeom>
          <a:solidFill>
            <a:srgbClr val="2E40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404813" y="1973759"/>
            <a:ext cx="0" cy="520303"/>
          </a:xfrm>
          <a:prstGeom prst="line">
            <a:avLst/>
          </a:prstGeom>
          <a:noFill/>
          <a:ln w="47625">
            <a:solidFill>
              <a:srgbClr val="1ABC9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1025" y="2062609"/>
            <a:ext cx="25906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provable bound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81025" y="2240310"/>
            <a:ext cx="2590699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ECF0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FPTAS — pick ε, get (1−ε)·OPT.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362176" y="1973759"/>
            <a:ext cx="2892326" cy="520303"/>
          </a:xfrm>
          <a:prstGeom prst="rect">
            <a:avLst/>
          </a:prstGeom>
          <a:solidFill>
            <a:srgbClr val="2E405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3385989" y="1973759"/>
            <a:ext cx="0" cy="520303"/>
          </a:xfrm>
          <a:prstGeom prst="line">
            <a:avLst/>
          </a:prstGeom>
          <a:noFill/>
          <a:ln w="47625">
            <a:solidFill>
              <a:srgbClr val="1A549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562201" y="2062609"/>
            <a:ext cx="25906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 choice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562201" y="2240310"/>
            <a:ext cx="2590699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ECF0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Tabulation if W small, FPTAS if W huge.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81000" y="2595563"/>
            <a:ext cx="8382000" cy="742355"/>
          </a:xfrm>
          <a:prstGeom prst="rect">
            <a:avLst/>
          </a:prstGeom>
          <a:solidFill>
            <a:srgbClr val="1A549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58701" y="2697063"/>
            <a:ext cx="818713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lesson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58701" y="2893814"/>
            <a:ext cx="8187130" cy="342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F4F6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"Best" depends on the instance. Empirical structure (correlation, W magnitude, n) determines the winning algorithm — there is no universal answer, only well-justified trade-offs.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97180" y="3439418"/>
            <a:ext cx="854964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1200" dirty="0">
                <a:solidFill>
                  <a:srgbClr val="AAB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 — QUESTIONS?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0" y="4848225"/>
            <a:ext cx="9144000" cy="295275"/>
          </a:xfrm>
          <a:prstGeom prst="rect">
            <a:avLst/>
          </a:prstGeom>
          <a:solidFill>
            <a:srgbClr val="1A549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57200" y="4924425"/>
            <a:ext cx="22529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0/1 Knapsack — Empirical Comparison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298507" y="4924425"/>
            <a:ext cx="3960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0/1 Knapsack — Empirical Comparison of Six Algorithms</dc:title>
  <dc:subject>PptxGenJS Presentation</dc:subject>
  <dc:creator>Anas Tabba, Abdullah Khan Sherwani, Zuhair Merchant, Raahin Raajiudin</dc:creator>
  <cp:lastModifiedBy>Anas Tabba, Abdullah Khan Sherwani, Zuhair Merchant, Raahin Raajiudin</cp:lastModifiedBy>
  <cp:revision>1</cp:revision>
  <dcterms:created xsi:type="dcterms:W3CDTF">2026-05-05T22:00:45Z</dcterms:created>
  <dcterms:modified xsi:type="dcterms:W3CDTF">2026-05-05T22:00:45Z</dcterms:modified>
</cp:coreProperties>
</file>